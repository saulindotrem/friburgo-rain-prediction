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6858000" cx="12191675"/>
  <p:notesSz cx="6858000" cy="9144000"/>
  <p:embeddedFontLst>
    <p:embeddedFont>
      <p:font typeface="Play"/>
      <p:regular r:id="rId23"/>
      <p:bold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slide" Target="slides/slide16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24" Type="http://schemas.openxmlformats.org/officeDocument/2006/relationships/font" Target="fonts/Play-bold.fntdata"/><Relationship Id="rId12" Type="http://schemas.openxmlformats.org/officeDocument/2006/relationships/slide" Target="slides/slide6.xml"/><Relationship Id="rId23" Type="http://schemas.openxmlformats.org/officeDocument/2006/relationships/font" Target="fonts/Play-regular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eae481bf40_2_2:notes"/>
          <p:cNvSpPr/>
          <p:nvPr>
            <p:ph idx="2" type="sldImg"/>
          </p:nvPr>
        </p:nvSpPr>
        <p:spPr>
          <a:xfrm>
            <a:off x="685873" y="857250"/>
            <a:ext cx="5486254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g3eae481bf40_2_2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g3eae481bf40_2_2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eae481bf40_2_15:notes"/>
          <p:cNvSpPr/>
          <p:nvPr>
            <p:ph idx="2" type="sldImg"/>
          </p:nvPr>
        </p:nvSpPr>
        <p:spPr>
          <a:xfrm>
            <a:off x="685873" y="857250"/>
            <a:ext cx="5486254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g3eae481bf40_2_15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g3eae481bf40_2_15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eae481bf40_2_30:notes"/>
          <p:cNvSpPr/>
          <p:nvPr>
            <p:ph idx="2" type="sldImg"/>
          </p:nvPr>
        </p:nvSpPr>
        <p:spPr>
          <a:xfrm>
            <a:off x="685873" y="857250"/>
            <a:ext cx="5486254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g3eae481bf40_2_30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g3eae481bf40_2_30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eae481bf40_2_46:notes"/>
          <p:cNvSpPr/>
          <p:nvPr>
            <p:ph idx="2" type="sldImg"/>
          </p:nvPr>
        </p:nvSpPr>
        <p:spPr>
          <a:xfrm>
            <a:off x="685873" y="857250"/>
            <a:ext cx="5486254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g3eae481bf40_2_46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g3eae481bf40_2_46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eae481bf40_2_71:notes"/>
          <p:cNvSpPr/>
          <p:nvPr>
            <p:ph idx="2" type="sldImg"/>
          </p:nvPr>
        </p:nvSpPr>
        <p:spPr>
          <a:xfrm>
            <a:off x="685873" y="857250"/>
            <a:ext cx="5486254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g3eae481bf40_2_71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g3eae481bf40_2_71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eae481bf40_2_96:notes"/>
          <p:cNvSpPr/>
          <p:nvPr>
            <p:ph idx="2" type="sldImg"/>
          </p:nvPr>
        </p:nvSpPr>
        <p:spPr>
          <a:xfrm>
            <a:off x="685873" y="857250"/>
            <a:ext cx="5486254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g3eae481bf40_2_96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g3eae481bf40_2_96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eae481bf40_2_107:notes"/>
          <p:cNvSpPr/>
          <p:nvPr>
            <p:ph idx="2" type="sldImg"/>
          </p:nvPr>
        </p:nvSpPr>
        <p:spPr>
          <a:xfrm>
            <a:off x="685873" y="857250"/>
            <a:ext cx="5486254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g3eae481bf40_2_107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g3eae481bf40_2_107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eae481bf40_2_130:notes"/>
          <p:cNvSpPr/>
          <p:nvPr>
            <p:ph idx="2" type="sldImg"/>
          </p:nvPr>
        </p:nvSpPr>
        <p:spPr>
          <a:xfrm>
            <a:off x="685873" y="857250"/>
            <a:ext cx="5486254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g3eae481bf40_2_130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g3eae481bf40_2_130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eae481bf40_2_150:notes"/>
          <p:cNvSpPr/>
          <p:nvPr>
            <p:ph idx="2" type="sldImg"/>
          </p:nvPr>
        </p:nvSpPr>
        <p:spPr>
          <a:xfrm>
            <a:off x="685873" y="857250"/>
            <a:ext cx="5486254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" name="Google Shape;235;g3eae481bf40_2_150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g3eae481bf40_2_150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eae481bf40_2_188:notes"/>
          <p:cNvSpPr/>
          <p:nvPr>
            <p:ph idx="2" type="sldImg"/>
          </p:nvPr>
        </p:nvSpPr>
        <p:spPr>
          <a:xfrm>
            <a:off x="685873" y="857250"/>
            <a:ext cx="5486254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4" name="Google Shape;274;g3eae481bf40_2_188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g3eae481bf40_2_188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eae481bf40_2_199:notes"/>
          <p:cNvSpPr/>
          <p:nvPr>
            <p:ph idx="2" type="sldImg"/>
          </p:nvPr>
        </p:nvSpPr>
        <p:spPr>
          <a:xfrm>
            <a:off x="685873" y="857250"/>
            <a:ext cx="5486254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6" name="Google Shape;286;g3eae481bf40_2_199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g3eae481bf40_2_199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eae481bf40_2_210:notes"/>
          <p:cNvSpPr/>
          <p:nvPr>
            <p:ph idx="2" type="sldImg"/>
          </p:nvPr>
        </p:nvSpPr>
        <p:spPr>
          <a:xfrm>
            <a:off x="685873" y="857250"/>
            <a:ext cx="5486254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8" name="Google Shape;298;g3eae481bf40_2_210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g3eae481bf40_2_210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eae481bf40_2_225:notes"/>
          <p:cNvSpPr/>
          <p:nvPr>
            <p:ph idx="2" type="sldImg"/>
          </p:nvPr>
        </p:nvSpPr>
        <p:spPr>
          <a:xfrm>
            <a:off x="685873" y="857250"/>
            <a:ext cx="5486254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4" name="Google Shape;314;g3eae481bf40_2_225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g3eae481bf40_2_225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eae481bf40_2_236:notes"/>
          <p:cNvSpPr/>
          <p:nvPr>
            <p:ph idx="2" type="sldImg"/>
          </p:nvPr>
        </p:nvSpPr>
        <p:spPr>
          <a:xfrm>
            <a:off x="685873" y="857250"/>
            <a:ext cx="5486254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6" name="Google Shape;326;g3eae481bf40_2_236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g3eae481bf40_2_236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eafe9e8a5f_0_0:notes"/>
          <p:cNvSpPr/>
          <p:nvPr>
            <p:ph idx="2" type="sldImg"/>
          </p:nvPr>
        </p:nvSpPr>
        <p:spPr>
          <a:xfrm>
            <a:off x="685873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9" name="Google Shape;339;g3eafe9e8a5f_0_0:notes"/>
          <p:cNvSpPr txBox="1"/>
          <p:nvPr>
            <p:ph idx="1" type="body"/>
          </p:nvPr>
        </p:nvSpPr>
        <p:spPr>
          <a:xfrm>
            <a:off x="685800" y="3300413"/>
            <a:ext cx="54864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g3eafe9e8a5f_0_0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eae481bf40_2_248:notes"/>
          <p:cNvSpPr/>
          <p:nvPr>
            <p:ph idx="2" type="sldImg"/>
          </p:nvPr>
        </p:nvSpPr>
        <p:spPr>
          <a:xfrm>
            <a:off x="685873" y="857250"/>
            <a:ext cx="5486254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2" name="Google Shape;352;g3eae481bf40_2_248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g3eae481bf40_2_248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1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1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22.png"/><Relationship Id="rId5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20.png"/><Relationship Id="rId5" Type="http://schemas.openxmlformats.org/officeDocument/2006/relationships/image" Target="../media/image23.png"/><Relationship Id="rId6" Type="http://schemas.openxmlformats.org/officeDocument/2006/relationships/image" Target="../media/image1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cefet_logo.png" id="87" name="Google Shape;8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07" y="428854"/>
            <a:ext cx="1463001" cy="468161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5"/>
          <p:cNvSpPr/>
          <p:nvPr/>
        </p:nvSpPr>
        <p:spPr>
          <a:xfrm>
            <a:off x="685782" y="1417320"/>
            <a:ext cx="1078963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200"/>
              <a:buFont typeface="Play"/>
              <a:buNone/>
            </a:pPr>
            <a:r>
              <a:rPr b="1" i="0" lang="en-US" sz="3200" u="none" cap="none" strike="noStrike">
                <a:solidFill>
                  <a:srgbClr val="111111"/>
                </a:solidFill>
                <a:latin typeface="Play"/>
                <a:ea typeface="Play"/>
                <a:cs typeface="Play"/>
                <a:sym typeface="Play"/>
              </a:rPr>
              <a:t>Predição de Precipitação Pluviométrica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5"/>
          <p:cNvSpPr/>
          <p:nvPr/>
        </p:nvSpPr>
        <p:spPr>
          <a:xfrm>
            <a:off x="685782" y="2011680"/>
            <a:ext cx="1078963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A7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3A70"/>
                </a:solidFill>
                <a:latin typeface="Arial"/>
                <a:ea typeface="Arial"/>
                <a:cs typeface="Arial"/>
                <a:sym typeface="Arial"/>
              </a:rPr>
              <a:t>Utilizando técnicas de Aprendizado de Máquina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0" name="Google Shape;90;p15"/>
          <p:cNvCxnSpPr/>
          <p:nvPr/>
        </p:nvCxnSpPr>
        <p:spPr>
          <a:xfrm>
            <a:off x="685782" y="2606040"/>
            <a:ext cx="3748940" cy="0"/>
          </a:xfrm>
          <a:prstGeom prst="straightConnector1">
            <a:avLst/>
          </a:prstGeom>
          <a:noFill/>
          <a:ln cap="flat" cmpd="sng" w="25400">
            <a:solidFill>
              <a:srgbClr val="003A7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1" name="Google Shape;91;p15"/>
          <p:cNvSpPr/>
          <p:nvPr/>
        </p:nvSpPr>
        <p:spPr>
          <a:xfrm>
            <a:off x="685782" y="2926080"/>
            <a:ext cx="960094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Estudo de caso com dados meteorológicos de Salinas, Nova Friburgo-RJ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5"/>
          <p:cNvSpPr/>
          <p:nvPr/>
        </p:nvSpPr>
        <p:spPr>
          <a:xfrm>
            <a:off x="685782" y="4892040"/>
            <a:ext cx="1042388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Bruno Gonçalves Faria • Saulo Klein Nery • Sebastião Gonçalves Ferreira Neto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5"/>
          <p:cNvSpPr/>
          <p:nvPr/>
        </p:nvSpPr>
        <p:spPr>
          <a:xfrm>
            <a:off x="685782" y="5257800"/>
            <a:ext cx="1042388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CEFET/RJ - Campus Nova Friburgo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5"/>
          <p:cNvSpPr/>
          <p:nvPr/>
        </p:nvSpPr>
        <p:spPr>
          <a:xfrm>
            <a:off x="11063945" y="6355080"/>
            <a:ext cx="731501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1/1</a:t>
            </a:r>
            <a:r>
              <a:rPr lang="en-US" sz="1000">
                <a:solidFill>
                  <a:srgbClr val="555555"/>
                </a:solidFill>
              </a:rPr>
              <a:t>6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cefet_logo.png" id="100" name="Google Shape;10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31" y="209398"/>
            <a:ext cx="1234407" cy="39501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6"/>
          <p:cNvSpPr/>
          <p:nvPr/>
        </p:nvSpPr>
        <p:spPr>
          <a:xfrm>
            <a:off x="1737314" y="219456"/>
            <a:ext cx="8137943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A70"/>
              </a:buClr>
              <a:buSzPts val="1300"/>
              <a:buFont typeface="Play"/>
              <a:buNone/>
            </a:pPr>
            <a:r>
              <a:rPr b="1" i="0" lang="en-US" sz="1300" u="none" cap="none" strike="noStrike">
                <a:solidFill>
                  <a:srgbClr val="003A70"/>
                </a:solidFill>
                <a:latin typeface="Play"/>
                <a:ea typeface="Play"/>
                <a:cs typeface="Play"/>
                <a:sym typeface="Play"/>
              </a:rPr>
              <a:t>Contexto e objetivo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6"/>
          <p:cNvSpPr/>
          <p:nvPr/>
        </p:nvSpPr>
        <p:spPr>
          <a:xfrm>
            <a:off x="11063945" y="228600"/>
            <a:ext cx="731501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2/1</a:t>
            </a:r>
            <a:r>
              <a:rPr lang="en-US" sz="1000">
                <a:solidFill>
                  <a:srgbClr val="555555"/>
                </a:solidFill>
              </a:rPr>
              <a:t>6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3" name="Google Shape;103;p16"/>
          <p:cNvCxnSpPr/>
          <p:nvPr/>
        </p:nvCxnSpPr>
        <p:spPr>
          <a:xfrm>
            <a:off x="320031" y="713232"/>
            <a:ext cx="11475414" cy="0"/>
          </a:xfrm>
          <a:prstGeom prst="straightConnector1">
            <a:avLst/>
          </a:prstGeom>
          <a:noFill/>
          <a:ln cap="flat" cmpd="sng" w="12700">
            <a:solidFill>
              <a:srgbClr val="003A7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4" name="Google Shape;104;p16"/>
          <p:cNvSpPr/>
          <p:nvPr/>
        </p:nvSpPr>
        <p:spPr>
          <a:xfrm>
            <a:off x="685782" y="960120"/>
            <a:ext cx="1097250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000"/>
              <a:buFont typeface="Play"/>
              <a:buNone/>
            </a:pPr>
            <a:r>
              <a:rPr b="1" i="0" lang="en-US" sz="3000" u="none" cap="none" strike="noStrike">
                <a:solidFill>
                  <a:srgbClr val="111111"/>
                </a:solidFill>
                <a:latin typeface="Play"/>
                <a:ea typeface="Play"/>
                <a:cs typeface="Play"/>
                <a:sym typeface="Play"/>
              </a:rPr>
              <a:t>Problema de regressão: estimar chuva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6"/>
          <p:cNvSpPr/>
          <p:nvPr/>
        </p:nvSpPr>
        <p:spPr>
          <a:xfrm>
            <a:off x="822938" y="1828800"/>
            <a:ext cx="6674942" cy="246888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A variável objetivo é chuva, um valor numérico contínuo.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O objetivo é estimar a precipitação a partir de condições meteorológicas observadas.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O estudo compara técnicas vistas na disciplina, mantendo a análise dentro do escopo das aulas.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6"/>
          <p:cNvSpPr/>
          <p:nvPr/>
        </p:nvSpPr>
        <p:spPr>
          <a:xfrm>
            <a:off x="8229381" y="1828800"/>
            <a:ext cx="219450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3A70"/>
              </a:buClr>
              <a:buSzPts val="3000"/>
              <a:buFont typeface="Play"/>
              <a:buNone/>
            </a:pPr>
            <a:r>
              <a:rPr b="1" i="0" lang="en-US" sz="3000" u="none" cap="none" strike="noStrike">
                <a:solidFill>
                  <a:srgbClr val="003A70"/>
                </a:solidFill>
                <a:latin typeface="Play"/>
                <a:ea typeface="Play"/>
                <a:cs typeface="Play"/>
                <a:sym typeface="Play"/>
              </a:rPr>
              <a:t>chuva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6"/>
          <p:cNvSpPr/>
          <p:nvPr/>
        </p:nvSpPr>
        <p:spPr>
          <a:xfrm>
            <a:off x="8229381" y="2395728"/>
            <a:ext cx="219450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variável objetivo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6"/>
          <p:cNvSpPr/>
          <p:nvPr/>
        </p:nvSpPr>
        <p:spPr>
          <a:xfrm>
            <a:off x="8229381" y="3063240"/>
            <a:ext cx="219450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7C3A"/>
              </a:buClr>
              <a:buSzPts val="3000"/>
              <a:buFont typeface="Play"/>
              <a:buNone/>
            </a:pPr>
            <a:r>
              <a:rPr b="1" i="0" lang="en-US" sz="3000" u="none" cap="none" strike="noStrike">
                <a:solidFill>
                  <a:srgbClr val="4A7C3A"/>
                </a:solidFill>
                <a:latin typeface="Play"/>
                <a:ea typeface="Play"/>
                <a:cs typeface="Play"/>
                <a:sym typeface="Play"/>
              </a:rPr>
              <a:t>regressão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6"/>
          <p:cNvSpPr/>
          <p:nvPr/>
        </p:nvSpPr>
        <p:spPr>
          <a:xfrm>
            <a:off x="8229381" y="3630168"/>
            <a:ext cx="219450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tipo do problema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cefet_logo.png" id="115" name="Google Shape;11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31" y="209398"/>
            <a:ext cx="1234407" cy="39501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7"/>
          <p:cNvSpPr/>
          <p:nvPr/>
        </p:nvSpPr>
        <p:spPr>
          <a:xfrm>
            <a:off x="1737314" y="219456"/>
            <a:ext cx="8137943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A70"/>
              </a:buClr>
              <a:buSzPts val="1300"/>
              <a:buFont typeface="Play"/>
              <a:buNone/>
            </a:pPr>
            <a:r>
              <a:rPr b="1" i="0" lang="en-US" sz="1300" u="none" cap="none" strike="noStrike">
                <a:solidFill>
                  <a:srgbClr val="003A70"/>
                </a:solidFill>
                <a:latin typeface="Play"/>
                <a:ea typeface="Play"/>
                <a:cs typeface="Play"/>
                <a:sym typeface="Play"/>
              </a:rPr>
              <a:t>Base de dados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7"/>
          <p:cNvSpPr/>
          <p:nvPr/>
        </p:nvSpPr>
        <p:spPr>
          <a:xfrm>
            <a:off x="11063945" y="228600"/>
            <a:ext cx="731501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3/1</a:t>
            </a:r>
            <a:r>
              <a:rPr lang="en-US" sz="1000">
                <a:solidFill>
                  <a:srgbClr val="555555"/>
                </a:solidFill>
              </a:rPr>
              <a:t>6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8" name="Google Shape;118;p17"/>
          <p:cNvCxnSpPr/>
          <p:nvPr/>
        </p:nvCxnSpPr>
        <p:spPr>
          <a:xfrm>
            <a:off x="320031" y="713232"/>
            <a:ext cx="11475414" cy="0"/>
          </a:xfrm>
          <a:prstGeom prst="straightConnector1">
            <a:avLst/>
          </a:prstGeom>
          <a:noFill/>
          <a:ln cap="flat" cmpd="sng" w="12700">
            <a:solidFill>
              <a:srgbClr val="003A7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9" name="Google Shape;119;p17"/>
          <p:cNvSpPr/>
          <p:nvPr/>
        </p:nvSpPr>
        <p:spPr>
          <a:xfrm>
            <a:off x="685782" y="960120"/>
            <a:ext cx="1097250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000"/>
              <a:buFont typeface="Play"/>
              <a:buNone/>
            </a:pPr>
            <a:r>
              <a:rPr b="1" i="0" lang="en-US" sz="3000" u="none" cap="none" strike="noStrike">
                <a:solidFill>
                  <a:srgbClr val="111111"/>
                </a:solidFill>
                <a:latin typeface="Play"/>
                <a:ea typeface="Play"/>
                <a:cs typeface="Play"/>
                <a:sym typeface="Play"/>
              </a:rPr>
              <a:t>Dados meteorológicos da estação Salinas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7"/>
          <p:cNvSpPr/>
          <p:nvPr/>
        </p:nvSpPr>
        <p:spPr>
          <a:xfrm>
            <a:off x="777219" y="1874520"/>
            <a:ext cx="219450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3A70"/>
              </a:buClr>
              <a:buSzPts val="3000"/>
              <a:buFont typeface="Play"/>
              <a:buNone/>
            </a:pPr>
            <a:r>
              <a:rPr b="1" i="0" lang="en-US" sz="3000" u="none" cap="none" strike="noStrike">
                <a:solidFill>
                  <a:srgbClr val="003A70"/>
                </a:solidFill>
                <a:latin typeface="Play"/>
                <a:ea typeface="Play"/>
                <a:cs typeface="Play"/>
                <a:sym typeface="Play"/>
              </a:rPr>
              <a:t>135.359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7"/>
          <p:cNvSpPr/>
          <p:nvPr/>
        </p:nvSpPr>
        <p:spPr>
          <a:xfrm>
            <a:off x="777219" y="2441448"/>
            <a:ext cx="219450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registros horários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7"/>
          <p:cNvSpPr/>
          <p:nvPr/>
        </p:nvSpPr>
        <p:spPr>
          <a:xfrm>
            <a:off x="3657503" y="1874520"/>
            <a:ext cx="219450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3A70"/>
              </a:buClr>
              <a:buSzPts val="3000"/>
              <a:buFont typeface="Play"/>
              <a:buNone/>
            </a:pPr>
            <a:r>
              <a:rPr b="1" i="0" lang="en-US" sz="3000" u="none" cap="none" strike="noStrike">
                <a:solidFill>
                  <a:srgbClr val="003A70"/>
                </a:solidFill>
                <a:latin typeface="Play"/>
                <a:ea typeface="Play"/>
                <a:cs typeface="Play"/>
                <a:sym typeface="Play"/>
              </a:rPr>
              <a:t>55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7"/>
          <p:cNvSpPr/>
          <p:nvPr/>
        </p:nvSpPr>
        <p:spPr>
          <a:xfrm>
            <a:off x="3657503" y="2441448"/>
            <a:ext cx="219450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características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7"/>
          <p:cNvSpPr/>
          <p:nvPr/>
        </p:nvSpPr>
        <p:spPr>
          <a:xfrm>
            <a:off x="6537786" y="1874520"/>
            <a:ext cx="219450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3A70"/>
              </a:buClr>
              <a:buSzPts val="3000"/>
              <a:buFont typeface="Play"/>
              <a:buNone/>
            </a:pPr>
            <a:r>
              <a:rPr b="1" i="0" lang="en-US" sz="3000" u="none" cap="none" strike="noStrike">
                <a:solidFill>
                  <a:srgbClr val="003A70"/>
                </a:solidFill>
                <a:latin typeface="Play"/>
                <a:ea typeface="Play"/>
                <a:cs typeface="Play"/>
                <a:sym typeface="Play"/>
              </a:rPr>
              <a:t>1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7"/>
          <p:cNvSpPr/>
          <p:nvPr/>
        </p:nvSpPr>
        <p:spPr>
          <a:xfrm>
            <a:off x="6537786" y="2441448"/>
            <a:ext cx="219450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coluna objetivo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7"/>
          <p:cNvSpPr/>
          <p:nvPr/>
        </p:nvSpPr>
        <p:spPr>
          <a:xfrm>
            <a:off x="822938" y="3657600"/>
            <a:ext cx="10241007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900"/>
              <a:buFont typeface="Arial"/>
              <a:buChar char="•"/>
            </a:pPr>
            <a:r>
              <a:rPr b="0" i="0" lang="en-US" sz="19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Fonte: INMET / portal tempo.inmet.gov.br.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900"/>
              <a:buFont typeface="Arial"/>
              <a:buChar char="•"/>
            </a:pPr>
            <a:r>
              <a:rPr b="0" i="0" lang="en-US" sz="19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Arquivos CSV organizados por período e consolidados em estacao-salinas-completo.csv.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900"/>
              <a:buFont typeface="Arial"/>
              <a:buChar char="•"/>
            </a:pPr>
            <a:r>
              <a:rPr b="0" i="0" lang="en-US" sz="19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Variáveis meteorológicas: temperatura, umidade, ponto de orvalho, pressão, vento, radiação e precipitação.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cefet_logo.png" id="132" name="Google Shape;13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31" y="209398"/>
            <a:ext cx="1234407" cy="39501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8"/>
          <p:cNvSpPr/>
          <p:nvPr/>
        </p:nvSpPr>
        <p:spPr>
          <a:xfrm>
            <a:off x="1737314" y="219456"/>
            <a:ext cx="8137943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A70"/>
              </a:buClr>
              <a:buSzPts val="1300"/>
              <a:buFont typeface="Play"/>
              <a:buNone/>
            </a:pPr>
            <a:r>
              <a:rPr b="1" i="0" lang="en-US" sz="1300" u="none" cap="none" strike="noStrike">
                <a:solidFill>
                  <a:srgbClr val="003A70"/>
                </a:solidFill>
                <a:latin typeface="Play"/>
                <a:ea typeface="Play"/>
                <a:cs typeface="Play"/>
                <a:sym typeface="Play"/>
              </a:rPr>
              <a:t>Análise de variáveis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8"/>
          <p:cNvSpPr/>
          <p:nvPr/>
        </p:nvSpPr>
        <p:spPr>
          <a:xfrm>
            <a:off x="11063945" y="228600"/>
            <a:ext cx="731501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4/1</a:t>
            </a:r>
            <a:r>
              <a:rPr lang="en-US" sz="1000">
                <a:solidFill>
                  <a:srgbClr val="555555"/>
                </a:solidFill>
              </a:rPr>
              <a:t>6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5" name="Google Shape;135;p18"/>
          <p:cNvCxnSpPr/>
          <p:nvPr/>
        </p:nvCxnSpPr>
        <p:spPr>
          <a:xfrm>
            <a:off x="320031" y="713232"/>
            <a:ext cx="11475414" cy="0"/>
          </a:xfrm>
          <a:prstGeom prst="straightConnector1">
            <a:avLst/>
          </a:prstGeom>
          <a:noFill/>
          <a:ln cap="flat" cmpd="sng" w="12700">
            <a:solidFill>
              <a:srgbClr val="003A7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6" name="Google Shape;136;p18"/>
          <p:cNvSpPr/>
          <p:nvPr/>
        </p:nvSpPr>
        <p:spPr>
          <a:xfrm>
            <a:off x="685782" y="960120"/>
            <a:ext cx="1097250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000"/>
              <a:buFont typeface="Play"/>
              <a:buNone/>
            </a:pPr>
            <a:r>
              <a:rPr b="1" i="0" lang="en-US" sz="3000" u="none" cap="none" strike="noStrike">
                <a:solidFill>
                  <a:srgbClr val="111111"/>
                </a:solidFill>
                <a:latin typeface="Play"/>
                <a:ea typeface="Play"/>
                <a:cs typeface="Play"/>
                <a:sym typeface="Play"/>
              </a:rPr>
              <a:t>Classificação dos atributos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8"/>
          <p:cNvSpPr/>
          <p:nvPr/>
        </p:nvSpPr>
        <p:spPr>
          <a:xfrm>
            <a:off x="804651" y="1901952"/>
            <a:ext cx="2139639" cy="475488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Tipo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8"/>
          <p:cNvSpPr/>
          <p:nvPr/>
        </p:nvSpPr>
        <p:spPr>
          <a:xfrm>
            <a:off x="2999152" y="1901952"/>
            <a:ext cx="4608453" cy="475488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Exemplos na base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8"/>
          <p:cNvSpPr/>
          <p:nvPr/>
        </p:nvSpPr>
        <p:spPr>
          <a:xfrm>
            <a:off x="7662468" y="1901952"/>
            <a:ext cx="3694078" cy="475488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Uso no trabalho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8"/>
          <p:cNvSpPr/>
          <p:nvPr/>
        </p:nvSpPr>
        <p:spPr>
          <a:xfrm>
            <a:off x="804651" y="2432304"/>
            <a:ext cx="2139639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Temporal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8"/>
          <p:cNvSpPr/>
          <p:nvPr/>
        </p:nvSpPr>
        <p:spPr>
          <a:xfrm>
            <a:off x="2999152" y="2432304"/>
            <a:ext cx="4608453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8"/>
          <p:cNvSpPr/>
          <p:nvPr/>
        </p:nvSpPr>
        <p:spPr>
          <a:xfrm>
            <a:off x="7662468" y="2432304"/>
            <a:ext cx="369407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Organização e criação de atributos temporais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8"/>
          <p:cNvSpPr/>
          <p:nvPr/>
        </p:nvSpPr>
        <p:spPr>
          <a:xfrm>
            <a:off x="804651" y="2962656"/>
            <a:ext cx="2139639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Numérica discreta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8"/>
          <p:cNvSpPr/>
          <p:nvPr/>
        </p:nvSpPr>
        <p:spPr>
          <a:xfrm>
            <a:off x="2999152" y="2962656"/>
            <a:ext cx="4608453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hora, mês, dia da semana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8"/>
          <p:cNvSpPr/>
          <p:nvPr/>
        </p:nvSpPr>
        <p:spPr>
          <a:xfrm>
            <a:off x="7662468" y="2962656"/>
            <a:ext cx="369407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Representação de calendário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8"/>
          <p:cNvSpPr/>
          <p:nvPr/>
        </p:nvSpPr>
        <p:spPr>
          <a:xfrm>
            <a:off x="804651" y="3493008"/>
            <a:ext cx="2139639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Numérica contínua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18"/>
          <p:cNvSpPr/>
          <p:nvPr/>
        </p:nvSpPr>
        <p:spPr>
          <a:xfrm>
            <a:off x="2999152" y="3493008"/>
            <a:ext cx="4608453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temperatura, pressão, umidade, chuva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8"/>
          <p:cNvSpPr/>
          <p:nvPr/>
        </p:nvSpPr>
        <p:spPr>
          <a:xfrm>
            <a:off x="7662468" y="3493008"/>
            <a:ext cx="369407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Entradas dos modelos e variável alvo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18"/>
          <p:cNvSpPr/>
          <p:nvPr/>
        </p:nvSpPr>
        <p:spPr>
          <a:xfrm>
            <a:off x="804651" y="4023360"/>
            <a:ext cx="2139639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Categórica nominal binária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18"/>
          <p:cNvSpPr/>
          <p:nvPr/>
        </p:nvSpPr>
        <p:spPr>
          <a:xfrm>
            <a:off x="2999152" y="4023360"/>
            <a:ext cx="4608453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fim_de_semana, choveu_1h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18"/>
          <p:cNvSpPr/>
          <p:nvPr/>
        </p:nvSpPr>
        <p:spPr>
          <a:xfrm>
            <a:off x="7662468" y="4023360"/>
            <a:ext cx="369407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Indicadores 0/1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cefet_logo.png" id="157" name="Google Shape;15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31" y="209398"/>
            <a:ext cx="1234407" cy="39501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9"/>
          <p:cNvSpPr/>
          <p:nvPr/>
        </p:nvSpPr>
        <p:spPr>
          <a:xfrm>
            <a:off x="1737314" y="219456"/>
            <a:ext cx="8137943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A70"/>
              </a:buClr>
              <a:buSzPts val="1300"/>
              <a:buFont typeface="Play"/>
              <a:buNone/>
            </a:pPr>
            <a:r>
              <a:rPr b="1" i="0" lang="en-US" sz="1300" u="none" cap="none" strike="noStrike">
                <a:solidFill>
                  <a:srgbClr val="003A70"/>
                </a:solidFill>
                <a:latin typeface="Play"/>
                <a:ea typeface="Play"/>
                <a:cs typeface="Play"/>
                <a:sym typeface="Play"/>
              </a:rPr>
              <a:t>Preparação dos dados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19"/>
          <p:cNvSpPr/>
          <p:nvPr/>
        </p:nvSpPr>
        <p:spPr>
          <a:xfrm>
            <a:off x="11063945" y="228600"/>
            <a:ext cx="731501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5/1</a:t>
            </a:r>
            <a:r>
              <a:rPr lang="en-US" sz="1000">
                <a:solidFill>
                  <a:srgbClr val="555555"/>
                </a:solidFill>
              </a:rPr>
              <a:t>6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0" name="Google Shape;160;p19"/>
          <p:cNvCxnSpPr/>
          <p:nvPr/>
        </p:nvCxnSpPr>
        <p:spPr>
          <a:xfrm>
            <a:off x="320031" y="713232"/>
            <a:ext cx="11475414" cy="0"/>
          </a:xfrm>
          <a:prstGeom prst="straightConnector1">
            <a:avLst/>
          </a:prstGeom>
          <a:noFill/>
          <a:ln cap="flat" cmpd="sng" w="12700">
            <a:solidFill>
              <a:srgbClr val="003A7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1" name="Google Shape;161;p19"/>
          <p:cNvSpPr/>
          <p:nvPr/>
        </p:nvSpPr>
        <p:spPr>
          <a:xfrm>
            <a:off x="685782" y="960120"/>
            <a:ext cx="1097250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000"/>
              <a:buFont typeface="Play"/>
              <a:buNone/>
            </a:pPr>
            <a:r>
              <a:rPr b="1" i="0" lang="en-US" sz="3000" u="none" cap="none" strike="noStrike">
                <a:solidFill>
                  <a:srgbClr val="111111"/>
                </a:solidFill>
                <a:latin typeface="Play"/>
                <a:ea typeface="Play"/>
                <a:cs typeface="Play"/>
                <a:sym typeface="Play"/>
              </a:rPr>
              <a:t>Atributos derivados usados na modelagem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19"/>
          <p:cNvSpPr/>
          <p:nvPr/>
        </p:nvSpPr>
        <p:spPr>
          <a:xfrm>
            <a:off x="804651" y="1856232"/>
            <a:ext cx="2139639" cy="521208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Grupo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9"/>
          <p:cNvSpPr/>
          <p:nvPr/>
        </p:nvSpPr>
        <p:spPr>
          <a:xfrm>
            <a:off x="2999152" y="1856232"/>
            <a:ext cx="4151265" cy="521208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Exemplos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9"/>
          <p:cNvSpPr/>
          <p:nvPr/>
        </p:nvSpPr>
        <p:spPr>
          <a:xfrm>
            <a:off x="7205280" y="1856232"/>
            <a:ext cx="4151265" cy="521208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Objetivo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19"/>
          <p:cNvSpPr/>
          <p:nvPr/>
        </p:nvSpPr>
        <p:spPr>
          <a:xfrm>
            <a:off x="804651" y="2432304"/>
            <a:ext cx="2139639" cy="521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Tempo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9"/>
          <p:cNvSpPr/>
          <p:nvPr/>
        </p:nvSpPr>
        <p:spPr>
          <a:xfrm>
            <a:off x="2999152" y="2432304"/>
            <a:ext cx="4151265" cy="521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hora_sin, mes_cos, dia_ano_sin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9"/>
          <p:cNvSpPr/>
          <p:nvPr/>
        </p:nvSpPr>
        <p:spPr>
          <a:xfrm>
            <a:off x="7205280" y="2432304"/>
            <a:ext cx="4151265" cy="521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Representar ciclos de hora, mês e ano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9"/>
          <p:cNvSpPr/>
          <p:nvPr/>
        </p:nvSpPr>
        <p:spPr>
          <a:xfrm>
            <a:off x="804651" y="3008376"/>
            <a:ext cx="2139639" cy="521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Amplitude e médias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19"/>
          <p:cNvSpPr/>
          <p:nvPr/>
        </p:nvSpPr>
        <p:spPr>
          <a:xfrm>
            <a:off x="2999152" y="3008376"/>
            <a:ext cx="4151265" cy="521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temperatura_amplitude, pressao_media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19"/>
          <p:cNvSpPr/>
          <p:nvPr/>
        </p:nvSpPr>
        <p:spPr>
          <a:xfrm>
            <a:off x="7205280" y="3008376"/>
            <a:ext cx="4151265" cy="521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Resumir variações meteorológicas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9"/>
          <p:cNvSpPr/>
          <p:nvPr/>
        </p:nvSpPr>
        <p:spPr>
          <a:xfrm>
            <a:off x="804651" y="3584448"/>
            <a:ext cx="2139639" cy="521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Chuva anterior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19"/>
          <p:cNvSpPr/>
          <p:nvPr/>
        </p:nvSpPr>
        <p:spPr>
          <a:xfrm>
            <a:off x="2999152" y="3584448"/>
            <a:ext cx="4151265" cy="521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chuva_lag_1h, chuva_acum_3h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19"/>
          <p:cNvSpPr/>
          <p:nvPr/>
        </p:nvSpPr>
        <p:spPr>
          <a:xfrm>
            <a:off x="7205280" y="3584448"/>
            <a:ext cx="4151265" cy="521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Capturar continuidade temporal da chuva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19"/>
          <p:cNvSpPr/>
          <p:nvPr/>
        </p:nvSpPr>
        <p:spPr>
          <a:xfrm>
            <a:off x="804651" y="4160520"/>
            <a:ext cx="2139639" cy="521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Indicadores binários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19"/>
          <p:cNvSpPr/>
          <p:nvPr/>
        </p:nvSpPr>
        <p:spPr>
          <a:xfrm>
            <a:off x="2999152" y="4160520"/>
            <a:ext cx="4151265" cy="521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choveu_1h, choveu_6h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19"/>
          <p:cNvSpPr/>
          <p:nvPr/>
        </p:nvSpPr>
        <p:spPr>
          <a:xfrm>
            <a:off x="7205280" y="4160520"/>
            <a:ext cx="4151265" cy="521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Registrar ocorrência recente de chuva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19"/>
          <p:cNvSpPr/>
          <p:nvPr/>
        </p:nvSpPr>
        <p:spPr>
          <a:xfrm>
            <a:off x="822938" y="5166360"/>
            <a:ext cx="1042388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As variáveis defasadas e acumuladas usam apenas informações anteriores ao registro previsto.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cefet_logo.png" id="183" name="Google Shape;18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31" y="209398"/>
            <a:ext cx="1234407" cy="39501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/>
          <p:nvPr/>
        </p:nvSpPr>
        <p:spPr>
          <a:xfrm>
            <a:off x="1737314" y="219456"/>
            <a:ext cx="8137943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A70"/>
              </a:buClr>
              <a:buSzPts val="1300"/>
              <a:buFont typeface="Play"/>
              <a:buNone/>
            </a:pPr>
            <a:r>
              <a:rPr b="1" i="0" lang="en-US" sz="1300" u="none" cap="none" strike="noStrike">
                <a:solidFill>
                  <a:srgbClr val="003A70"/>
                </a:solidFill>
                <a:latin typeface="Play"/>
                <a:ea typeface="Play"/>
                <a:cs typeface="Play"/>
                <a:sym typeface="Play"/>
              </a:rPr>
              <a:t>Pré-processamento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0"/>
          <p:cNvSpPr/>
          <p:nvPr/>
        </p:nvSpPr>
        <p:spPr>
          <a:xfrm>
            <a:off x="11063945" y="228600"/>
            <a:ext cx="731501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6/1</a:t>
            </a:r>
            <a:r>
              <a:rPr lang="en-US" sz="1000">
                <a:solidFill>
                  <a:srgbClr val="555555"/>
                </a:solidFill>
              </a:rPr>
              <a:t>6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6" name="Google Shape;186;p20"/>
          <p:cNvCxnSpPr/>
          <p:nvPr/>
        </p:nvCxnSpPr>
        <p:spPr>
          <a:xfrm>
            <a:off x="320031" y="713232"/>
            <a:ext cx="11475414" cy="0"/>
          </a:xfrm>
          <a:prstGeom prst="straightConnector1">
            <a:avLst/>
          </a:prstGeom>
          <a:noFill/>
          <a:ln cap="flat" cmpd="sng" w="12700">
            <a:solidFill>
              <a:srgbClr val="003A7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7" name="Google Shape;187;p20"/>
          <p:cNvSpPr/>
          <p:nvPr/>
        </p:nvSpPr>
        <p:spPr>
          <a:xfrm>
            <a:off x="685782" y="960120"/>
            <a:ext cx="1097250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000"/>
              <a:buFont typeface="Play"/>
              <a:buNone/>
            </a:pPr>
            <a:r>
              <a:rPr b="1" i="0" lang="en-US" sz="3000" u="none" cap="none" strike="noStrike">
                <a:solidFill>
                  <a:srgbClr val="111111"/>
                </a:solidFill>
                <a:latin typeface="Play"/>
                <a:ea typeface="Play"/>
                <a:cs typeface="Play"/>
                <a:sym typeface="Play"/>
              </a:rPr>
              <a:t>Fluxo aplicado aos dados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0"/>
          <p:cNvSpPr/>
          <p:nvPr/>
        </p:nvSpPr>
        <p:spPr>
          <a:xfrm>
            <a:off x="914376" y="1783080"/>
            <a:ext cx="10332445" cy="3383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900"/>
              <a:buFont typeface="Arial"/>
              <a:buChar char="•"/>
            </a:pPr>
            <a:r>
              <a:rPr b="0" i="0" lang="en-US" sz="19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Conversão de data, hora e medições meteorológicas para tipos adequados.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900"/>
              <a:buFont typeface="Arial"/>
              <a:buChar char="•"/>
            </a:pPr>
            <a:r>
              <a:rPr b="0" i="0" lang="en-US" sz="19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Remoção de registros inválidos, duplicados ou sem medições úteis.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900"/>
              <a:buFont typeface="Arial"/>
              <a:buChar char="•"/>
            </a:pPr>
            <a:r>
              <a:rPr b="0" i="0" lang="en-US" sz="19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Ordenação temporal para criar lags e acumulados de chuva.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900"/>
              <a:buFont typeface="Arial"/>
              <a:buChar char="•"/>
            </a:pPr>
            <a:r>
              <a:rPr b="0" i="0" lang="en-US" sz="19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Imputação por mediana e padronização com StandardScaler nos pipelines.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900"/>
              <a:buFont typeface="Arial"/>
              <a:buChar char="•"/>
            </a:pPr>
            <a:r>
              <a:rPr b="0" i="0" lang="en-US" sz="19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Divisão inicial: 75% treinamento e 25% teste, com random_state=0.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cefet_logo.png" id="194" name="Google Shape;19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31" y="209398"/>
            <a:ext cx="1234407" cy="39501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1"/>
          <p:cNvSpPr/>
          <p:nvPr/>
        </p:nvSpPr>
        <p:spPr>
          <a:xfrm>
            <a:off x="1737314" y="219456"/>
            <a:ext cx="8137943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A70"/>
              </a:buClr>
              <a:buSzPts val="1300"/>
              <a:buFont typeface="Play"/>
              <a:buNone/>
            </a:pPr>
            <a:r>
              <a:rPr b="1" i="0" lang="en-US" sz="1300" u="none" cap="none" strike="noStrike">
                <a:solidFill>
                  <a:srgbClr val="003A70"/>
                </a:solidFill>
                <a:latin typeface="Play"/>
                <a:ea typeface="Play"/>
                <a:cs typeface="Play"/>
                <a:sym typeface="Play"/>
              </a:rPr>
              <a:t>Modelos avaliados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1"/>
          <p:cNvSpPr/>
          <p:nvPr/>
        </p:nvSpPr>
        <p:spPr>
          <a:xfrm>
            <a:off x="11063945" y="228600"/>
            <a:ext cx="731501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7/1</a:t>
            </a:r>
            <a:r>
              <a:rPr lang="en-US" sz="1000">
                <a:solidFill>
                  <a:srgbClr val="555555"/>
                </a:solidFill>
              </a:rPr>
              <a:t>6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7" name="Google Shape;197;p21"/>
          <p:cNvCxnSpPr/>
          <p:nvPr/>
        </p:nvCxnSpPr>
        <p:spPr>
          <a:xfrm>
            <a:off x="320031" y="713232"/>
            <a:ext cx="11475414" cy="0"/>
          </a:xfrm>
          <a:prstGeom prst="straightConnector1">
            <a:avLst/>
          </a:prstGeom>
          <a:noFill/>
          <a:ln cap="flat" cmpd="sng" w="12700">
            <a:solidFill>
              <a:srgbClr val="003A7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8" name="Google Shape;198;p21"/>
          <p:cNvSpPr/>
          <p:nvPr/>
        </p:nvSpPr>
        <p:spPr>
          <a:xfrm>
            <a:off x="685782" y="960120"/>
            <a:ext cx="1097250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000"/>
              <a:buFont typeface="Play"/>
              <a:buNone/>
            </a:pPr>
            <a:r>
              <a:rPr b="1" i="0" lang="en-US" sz="3000" u="none" cap="none" strike="noStrike">
                <a:solidFill>
                  <a:srgbClr val="111111"/>
                </a:solidFill>
                <a:latin typeface="Play"/>
                <a:ea typeface="Play"/>
                <a:cs typeface="Play"/>
                <a:sym typeface="Play"/>
              </a:rPr>
              <a:t>Técnicas aplicadas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1"/>
          <p:cNvSpPr/>
          <p:nvPr/>
        </p:nvSpPr>
        <p:spPr>
          <a:xfrm>
            <a:off x="850369" y="1810512"/>
            <a:ext cx="2871139" cy="532965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Modelo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1"/>
          <p:cNvSpPr/>
          <p:nvPr/>
        </p:nvSpPr>
        <p:spPr>
          <a:xfrm>
            <a:off x="3776371" y="1810512"/>
            <a:ext cx="7534455" cy="532965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Investigação realizada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21"/>
          <p:cNvSpPr/>
          <p:nvPr/>
        </p:nvSpPr>
        <p:spPr>
          <a:xfrm>
            <a:off x="850369" y="2398341"/>
            <a:ext cx="2871139" cy="53296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Regressão Linear Múltipla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1"/>
          <p:cNvSpPr/>
          <p:nvPr/>
        </p:nvSpPr>
        <p:spPr>
          <a:xfrm>
            <a:off x="3776371" y="2398341"/>
            <a:ext cx="7534455" cy="53296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Configuração padrão e variações regularizadas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1"/>
          <p:cNvSpPr/>
          <p:nvPr/>
        </p:nvSpPr>
        <p:spPr>
          <a:xfrm>
            <a:off x="850369" y="2986169"/>
            <a:ext cx="2871139" cy="53296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Regressão Polinomial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1"/>
          <p:cNvSpPr/>
          <p:nvPr/>
        </p:nvSpPr>
        <p:spPr>
          <a:xfrm>
            <a:off x="3776371" y="2986169"/>
            <a:ext cx="7534455" cy="53296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Grau 2 e grau 3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21"/>
          <p:cNvSpPr/>
          <p:nvPr/>
        </p:nvSpPr>
        <p:spPr>
          <a:xfrm>
            <a:off x="850369" y="3573998"/>
            <a:ext cx="2871139" cy="53296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Árvore de Decisão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1"/>
          <p:cNvSpPr/>
          <p:nvPr/>
        </p:nvSpPr>
        <p:spPr>
          <a:xfrm>
            <a:off x="3776371" y="3573998"/>
            <a:ext cx="7534455" cy="53296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Profundidade máxima e min_samples_leaf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1"/>
          <p:cNvSpPr/>
          <p:nvPr/>
        </p:nvSpPr>
        <p:spPr>
          <a:xfrm>
            <a:off x="850369" y="4161826"/>
            <a:ext cx="2871139" cy="53296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Random Forest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1"/>
          <p:cNvSpPr/>
          <p:nvPr/>
        </p:nvSpPr>
        <p:spPr>
          <a:xfrm>
            <a:off x="3776371" y="4161826"/>
            <a:ext cx="7534455" cy="53296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Número de árvores, profundidade e max_features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1"/>
          <p:cNvSpPr/>
          <p:nvPr/>
        </p:nvSpPr>
        <p:spPr>
          <a:xfrm>
            <a:off x="850369" y="4749655"/>
            <a:ext cx="2871139" cy="53296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SVM Linear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1"/>
          <p:cNvSpPr/>
          <p:nvPr/>
        </p:nvSpPr>
        <p:spPr>
          <a:xfrm>
            <a:off x="3776371" y="4749655"/>
            <a:ext cx="7534455" cy="53296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Funções de perda, penalização e taxa de aprendizado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1"/>
          <p:cNvSpPr/>
          <p:nvPr/>
        </p:nvSpPr>
        <p:spPr>
          <a:xfrm>
            <a:off x="850369" y="5337483"/>
            <a:ext cx="2871139" cy="53296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Redes Neurais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1"/>
          <p:cNvSpPr/>
          <p:nvPr/>
        </p:nvSpPr>
        <p:spPr>
          <a:xfrm>
            <a:off x="3776371" y="5337483"/>
            <a:ext cx="7534455" cy="53296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Arquiteturas de camadas ocultas e early stopping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cefet_logo.png" id="218" name="Google Shape;21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31" y="209398"/>
            <a:ext cx="1234407" cy="39501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2"/>
          <p:cNvSpPr/>
          <p:nvPr/>
        </p:nvSpPr>
        <p:spPr>
          <a:xfrm>
            <a:off x="1737314" y="219456"/>
            <a:ext cx="8137943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A70"/>
              </a:buClr>
              <a:buSzPts val="1300"/>
              <a:buFont typeface="Play"/>
              <a:buNone/>
            </a:pPr>
            <a:r>
              <a:rPr b="1" i="0" lang="en-US" sz="1300" u="none" cap="none" strike="noStrike">
                <a:solidFill>
                  <a:srgbClr val="003A70"/>
                </a:solidFill>
                <a:latin typeface="Play"/>
                <a:ea typeface="Play"/>
                <a:cs typeface="Play"/>
                <a:sym typeface="Play"/>
              </a:rPr>
              <a:t>Avaliação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22"/>
          <p:cNvSpPr/>
          <p:nvPr/>
        </p:nvSpPr>
        <p:spPr>
          <a:xfrm>
            <a:off x="11063945" y="228600"/>
            <a:ext cx="731501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8/1</a:t>
            </a:r>
            <a:r>
              <a:rPr lang="en-US" sz="1000">
                <a:solidFill>
                  <a:srgbClr val="555555"/>
                </a:solidFill>
              </a:rPr>
              <a:t>6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1" name="Google Shape;221;p22"/>
          <p:cNvCxnSpPr/>
          <p:nvPr/>
        </p:nvCxnSpPr>
        <p:spPr>
          <a:xfrm>
            <a:off x="320031" y="713232"/>
            <a:ext cx="11475414" cy="0"/>
          </a:xfrm>
          <a:prstGeom prst="straightConnector1">
            <a:avLst/>
          </a:prstGeom>
          <a:noFill/>
          <a:ln cap="flat" cmpd="sng" w="12700">
            <a:solidFill>
              <a:srgbClr val="003A7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2" name="Google Shape;222;p22"/>
          <p:cNvSpPr/>
          <p:nvPr/>
        </p:nvSpPr>
        <p:spPr>
          <a:xfrm>
            <a:off x="685782" y="960120"/>
            <a:ext cx="1097250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000"/>
              <a:buFont typeface="Play"/>
              <a:buNone/>
            </a:pPr>
            <a:r>
              <a:rPr b="1" i="0" lang="en-US" sz="3000" u="none" cap="none" strike="noStrike">
                <a:solidFill>
                  <a:srgbClr val="111111"/>
                </a:solidFill>
                <a:latin typeface="Play"/>
                <a:ea typeface="Play"/>
                <a:cs typeface="Play"/>
                <a:sym typeface="Play"/>
              </a:rPr>
              <a:t>Métricas de regressão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2"/>
          <p:cNvSpPr/>
          <p:nvPr/>
        </p:nvSpPr>
        <p:spPr>
          <a:xfrm>
            <a:off x="850369" y="1856232"/>
            <a:ext cx="2322514" cy="530352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Métrica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22"/>
          <p:cNvSpPr/>
          <p:nvPr/>
        </p:nvSpPr>
        <p:spPr>
          <a:xfrm>
            <a:off x="3227746" y="1856232"/>
            <a:ext cx="8083081" cy="530352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Interpretação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22"/>
          <p:cNvSpPr/>
          <p:nvPr/>
        </p:nvSpPr>
        <p:spPr>
          <a:xfrm>
            <a:off x="850369" y="2441448"/>
            <a:ext cx="2322514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R² / Score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22"/>
          <p:cNvSpPr/>
          <p:nvPr/>
        </p:nvSpPr>
        <p:spPr>
          <a:xfrm>
            <a:off x="3227746" y="2441448"/>
            <a:ext cx="8083081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Capacidade explicativa do modelo; quanto maior, melhor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22"/>
          <p:cNvSpPr/>
          <p:nvPr/>
        </p:nvSpPr>
        <p:spPr>
          <a:xfrm>
            <a:off x="850369" y="3026664"/>
            <a:ext cx="2322514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MAE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22"/>
          <p:cNvSpPr/>
          <p:nvPr/>
        </p:nvSpPr>
        <p:spPr>
          <a:xfrm>
            <a:off x="3227746" y="3026664"/>
            <a:ext cx="8083081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Erro absoluto médio das estimativas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22"/>
          <p:cNvSpPr/>
          <p:nvPr/>
        </p:nvSpPr>
        <p:spPr>
          <a:xfrm>
            <a:off x="850369" y="3611880"/>
            <a:ext cx="2322514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MSE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22"/>
          <p:cNvSpPr/>
          <p:nvPr/>
        </p:nvSpPr>
        <p:spPr>
          <a:xfrm>
            <a:off x="3227746" y="3611880"/>
            <a:ext cx="8083081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Erro quadrático médio; penaliza erros maiores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22"/>
          <p:cNvSpPr/>
          <p:nvPr/>
        </p:nvSpPr>
        <p:spPr>
          <a:xfrm>
            <a:off x="850369" y="4197096"/>
            <a:ext cx="2322514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RMSE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22"/>
          <p:cNvSpPr/>
          <p:nvPr/>
        </p:nvSpPr>
        <p:spPr>
          <a:xfrm>
            <a:off x="3227746" y="4197096"/>
            <a:ext cx="8083081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Raiz do MSE; erro na mesma escala da variável chuva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cefet_logo.png" id="238" name="Google Shape;23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31" y="209398"/>
            <a:ext cx="1234407" cy="39501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3"/>
          <p:cNvSpPr/>
          <p:nvPr/>
        </p:nvSpPr>
        <p:spPr>
          <a:xfrm>
            <a:off x="1737314" y="219456"/>
            <a:ext cx="8137943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A70"/>
              </a:buClr>
              <a:buSzPts val="1300"/>
              <a:buFont typeface="Play"/>
              <a:buNone/>
            </a:pPr>
            <a:r>
              <a:rPr b="1" i="0" lang="en-US" sz="1300" u="none" cap="none" strike="noStrike">
                <a:solidFill>
                  <a:srgbClr val="003A70"/>
                </a:solidFill>
                <a:latin typeface="Play"/>
                <a:ea typeface="Play"/>
                <a:cs typeface="Play"/>
                <a:sym typeface="Play"/>
              </a:rPr>
              <a:t>Resultados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23"/>
          <p:cNvSpPr/>
          <p:nvPr/>
        </p:nvSpPr>
        <p:spPr>
          <a:xfrm>
            <a:off x="11063945" y="228600"/>
            <a:ext cx="731501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9/1</a:t>
            </a:r>
            <a:r>
              <a:rPr lang="en-US" sz="1000">
                <a:solidFill>
                  <a:srgbClr val="555555"/>
                </a:solidFill>
              </a:rPr>
              <a:t>6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1" name="Google Shape;241;p23"/>
          <p:cNvCxnSpPr/>
          <p:nvPr/>
        </p:nvCxnSpPr>
        <p:spPr>
          <a:xfrm>
            <a:off x="320031" y="713232"/>
            <a:ext cx="11475414" cy="0"/>
          </a:xfrm>
          <a:prstGeom prst="straightConnector1">
            <a:avLst/>
          </a:prstGeom>
          <a:noFill/>
          <a:ln cap="flat" cmpd="sng" w="12700">
            <a:solidFill>
              <a:srgbClr val="003A7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2" name="Google Shape;242;p23"/>
          <p:cNvSpPr/>
          <p:nvPr/>
        </p:nvSpPr>
        <p:spPr>
          <a:xfrm>
            <a:off x="685782" y="960120"/>
            <a:ext cx="1097250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000"/>
              <a:buFont typeface="Play"/>
              <a:buNone/>
            </a:pPr>
            <a:r>
              <a:rPr b="1" i="0" lang="en-US" sz="3000" u="none" cap="none" strike="noStrike">
                <a:solidFill>
                  <a:srgbClr val="111111"/>
                </a:solidFill>
                <a:latin typeface="Play"/>
                <a:ea typeface="Play"/>
                <a:cs typeface="Play"/>
                <a:sym typeface="Play"/>
              </a:rPr>
              <a:t>Melhor configuração por técnica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23"/>
          <p:cNvSpPr/>
          <p:nvPr/>
        </p:nvSpPr>
        <p:spPr>
          <a:xfrm>
            <a:off x="621775" y="1764792"/>
            <a:ext cx="2139639" cy="532965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Técnica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23"/>
          <p:cNvSpPr/>
          <p:nvPr/>
        </p:nvSpPr>
        <p:spPr>
          <a:xfrm>
            <a:off x="2816277" y="1764792"/>
            <a:ext cx="5248516" cy="532965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Configuração resumida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23"/>
          <p:cNvSpPr/>
          <p:nvPr/>
        </p:nvSpPr>
        <p:spPr>
          <a:xfrm>
            <a:off x="8119656" y="1764792"/>
            <a:ext cx="1499576" cy="532965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R²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23"/>
          <p:cNvSpPr/>
          <p:nvPr/>
        </p:nvSpPr>
        <p:spPr>
          <a:xfrm>
            <a:off x="9674094" y="1764792"/>
            <a:ext cx="1499576" cy="532965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RMSE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23"/>
          <p:cNvSpPr/>
          <p:nvPr/>
        </p:nvSpPr>
        <p:spPr>
          <a:xfrm>
            <a:off x="621775" y="2352621"/>
            <a:ext cx="2139639" cy="53296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Reg. Linear Múltipla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23"/>
          <p:cNvSpPr/>
          <p:nvPr/>
        </p:nvSpPr>
        <p:spPr>
          <a:xfrm>
            <a:off x="2816277" y="2352621"/>
            <a:ext cx="5248516" cy="53296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padrão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23"/>
          <p:cNvSpPr/>
          <p:nvPr/>
        </p:nvSpPr>
        <p:spPr>
          <a:xfrm>
            <a:off x="8119656" y="2352621"/>
            <a:ext cx="1499576" cy="53296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222222"/>
                </a:solidFill>
              </a:rPr>
              <a:t>0,240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23"/>
          <p:cNvSpPr/>
          <p:nvPr/>
        </p:nvSpPr>
        <p:spPr>
          <a:xfrm>
            <a:off x="9674094" y="2352621"/>
            <a:ext cx="1499576" cy="53296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222222"/>
                </a:solidFill>
              </a:rPr>
              <a:t>1,138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23"/>
          <p:cNvSpPr/>
          <p:nvPr/>
        </p:nvSpPr>
        <p:spPr>
          <a:xfrm>
            <a:off x="621775" y="2940449"/>
            <a:ext cx="2139639" cy="53296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Reg. Polinomial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23"/>
          <p:cNvSpPr/>
          <p:nvPr/>
        </p:nvSpPr>
        <p:spPr>
          <a:xfrm>
            <a:off x="2816277" y="2940449"/>
            <a:ext cx="5248516" cy="53296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grau 2, alpha=100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23"/>
          <p:cNvSpPr/>
          <p:nvPr/>
        </p:nvSpPr>
        <p:spPr>
          <a:xfrm>
            <a:off x="8119656" y="2940449"/>
            <a:ext cx="1499576" cy="53296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222222"/>
                </a:solidFill>
              </a:rPr>
              <a:t>0,279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23"/>
          <p:cNvSpPr/>
          <p:nvPr/>
        </p:nvSpPr>
        <p:spPr>
          <a:xfrm>
            <a:off x="9674094" y="2940449"/>
            <a:ext cx="1499576" cy="53296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222222"/>
                </a:solidFill>
              </a:rPr>
              <a:t>1,109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23"/>
          <p:cNvSpPr/>
          <p:nvPr/>
        </p:nvSpPr>
        <p:spPr>
          <a:xfrm>
            <a:off x="621775" y="3528278"/>
            <a:ext cx="2139639" cy="53296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Árvore de Decisão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23"/>
          <p:cNvSpPr/>
          <p:nvPr/>
        </p:nvSpPr>
        <p:spPr>
          <a:xfrm>
            <a:off x="2816277" y="3528278"/>
            <a:ext cx="5248516" cy="53296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max_depth=18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23"/>
          <p:cNvSpPr/>
          <p:nvPr/>
        </p:nvSpPr>
        <p:spPr>
          <a:xfrm>
            <a:off x="8119656" y="3528278"/>
            <a:ext cx="1499576" cy="53296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0,242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23"/>
          <p:cNvSpPr/>
          <p:nvPr/>
        </p:nvSpPr>
        <p:spPr>
          <a:xfrm>
            <a:off x="9674094" y="3528278"/>
            <a:ext cx="1499576" cy="53296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1,138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23"/>
          <p:cNvSpPr/>
          <p:nvPr/>
        </p:nvSpPr>
        <p:spPr>
          <a:xfrm>
            <a:off x="621775" y="4116106"/>
            <a:ext cx="2139639" cy="53296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Random Forest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23"/>
          <p:cNvSpPr/>
          <p:nvPr/>
        </p:nvSpPr>
        <p:spPr>
          <a:xfrm>
            <a:off x="2816277" y="4116106"/>
            <a:ext cx="5248516" cy="53296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100 árvores, depth=15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23"/>
          <p:cNvSpPr/>
          <p:nvPr/>
        </p:nvSpPr>
        <p:spPr>
          <a:xfrm>
            <a:off x="8119656" y="4116106"/>
            <a:ext cx="1499576" cy="53296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0,344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23"/>
          <p:cNvSpPr/>
          <p:nvPr/>
        </p:nvSpPr>
        <p:spPr>
          <a:xfrm>
            <a:off x="9674094" y="4116106"/>
            <a:ext cx="1499576" cy="53296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1,058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23"/>
          <p:cNvSpPr/>
          <p:nvPr/>
        </p:nvSpPr>
        <p:spPr>
          <a:xfrm>
            <a:off x="621775" y="4703935"/>
            <a:ext cx="2139639" cy="53296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SVM Linear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23"/>
          <p:cNvSpPr/>
          <p:nvPr/>
        </p:nvSpPr>
        <p:spPr>
          <a:xfrm>
            <a:off x="2816277" y="4703935"/>
            <a:ext cx="5248516" cy="53296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squared_error + elasticnet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23"/>
          <p:cNvSpPr/>
          <p:nvPr/>
        </p:nvSpPr>
        <p:spPr>
          <a:xfrm>
            <a:off x="8119656" y="4703935"/>
            <a:ext cx="1499576" cy="53296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0,193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23"/>
          <p:cNvSpPr/>
          <p:nvPr/>
        </p:nvSpPr>
        <p:spPr>
          <a:xfrm>
            <a:off x="9674094" y="4703935"/>
            <a:ext cx="1499576" cy="53296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1,174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23"/>
          <p:cNvSpPr/>
          <p:nvPr/>
        </p:nvSpPr>
        <p:spPr>
          <a:xfrm>
            <a:off x="621775" y="5291763"/>
            <a:ext cx="2139639" cy="53296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Redes Neurais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23"/>
          <p:cNvSpPr/>
          <p:nvPr/>
        </p:nvSpPr>
        <p:spPr>
          <a:xfrm>
            <a:off x="2816277" y="5291763"/>
            <a:ext cx="5248516" cy="53296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MLP (64, 32), ReLU, Adam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23"/>
          <p:cNvSpPr/>
          <p:nvPr/>
        </p:nvSpPr>
        <p:spPr>
          <a:xfrm>
            <a:off x="8119656" y="5291763"/>
            <a:ext cx="1499576" cy="53296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222222"/>
                </a:solidFill>
              </a:rPr>
              <a:t>0,379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23"/>
          <p:cNvSpPr/>
          <p:nvPr/>
        </p:nvSpPr>
        <p:spPr>
          <a:xfrm>
            <a:off x="9674094" y="5291763"/>
            <a:ext cx="1499576" cy="53296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222222"/>
                </a:solidFill>
              </a:rPr>
              <a:t>1,028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23"/>
          <p:cNvSpPr/>
          <p:nvPr/>
        </p:nvSpPr>
        <p:spPr>
          <a:xfrm>
            <a:off x="731500" y="5989320"/>
            <a:ext cx="10515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Melhor resultado geral: Rede Neural com maior R² e menor RMSE.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cefet_logo.png" id="277" name="Google Shape;27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31" y="209398"/>
            <a:ext cx="1234407" cy="39501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4"/>
          <p:cNvSpPr/>
          <p:nvPr/>
        </p:nvSpPr>
        <p:spPr>
          <a:xfrm>
            <a:off x="1737314" y="219456"/>
            <a:ext cx="8137943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A70"/>
              </a:buClr>
              <a:buSzPts val="1300"/>
              <a:buFont typeface="Play"/>
              <a:buNone/>
            </a:pPr>
            <a:r>
              <a:rPr b="1" i="0" lang="en-US" sz="1300" u="none" cap="none" strike="noStrike">
                <a:solidFill>
                  <a:srgbClr val="003A70"/>
                </a:solidFill>
                <a:latin typeface="Play"/>
                <a:ea typeface="Play"/>
                <a:cs typeface="Play"/>
                <a:sym typeface="Play"/>
              </a:rPr>
              <a:t>Investigação dos modelos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24"/>
          <p:cNvSpPr/>
          <p:nvPr/>
        </p:nvSpPr>
        <p:spPr>
          <a:xfrm>
            <a:off x="11063945" y="228600"/>
            <a:ext cx="731501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10/1</a:t>
            </a:r>
            <a:r>
              <a:rPr lang="en-US" sz="1000">
                <a:solidFill>
                  <a:srgbClr val="555555"/>
                </a:solidFill>
              </a:rPr>
              <a:t>6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0" name="Google Shape;280;p24"/>
          <p:cNvCxnSpPr/>
          <p:nvPr/>
        </p:nvCxnSpPr>
        <p:spPr>
          <a:xfrm>
            <a:off x="320031" y="713232"/>
            <a:ext cx="11475414" cy="0"/>
          </a:xfrm>
          <a:prstGeom prst="straightConnector1">
            <a:avLst/>
          </a:prstGeom>
          <a:noFill/>
          <a:ln cap="flat" cmpd="sng" w="12700">
            <a:solidFill>
              <a:srgbClr val="003A7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1" name="Google Shape;281;p24"/>
          <p:cNvSpPr/>
          <p:nvPr/>
        </p:nvSpPr>
        <p:spPr>
          <a:xfrm>
            <a:off x="685782" y="960120"/>
            <a:ext cx="1097250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000"/>
              <a:buFont typeface="Play"/>
              <a:buNone/>
            </a:pPr>
            <a:r>
              <a:rPr b="1" i="0" lang="en-US" sz="3000" u="none" cap="none" strike="noStrike">
                <a:solidFill>
                  <a:srgbClr val="111111"/>
                </a:solidFill>
                <a:latin typeface="Play"/>
                <a:ea typeface="Play"/>
                <a:cs typeface="Play"/>
                <a:sym typeface="Play"/>
              </a:rPr>
              <a:t>Comparação do Score (R²)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2" name="Google Shape;282;p24" title="comparacao_r2_modelos.png"/>
          <p:cNvPicPr preferRelativeResize="0"/>
          <p:nvPr/>
        </p:nvPicPr>
        <p:blipFill rotWithShape="1">
          <a:blip r:embed="rId4">
            <a:alphaModFix/>
          </a:blip>
          <a:srcRect b="0" l="6201" r="6210" t="0"/>
          <a:stretch/>
        </p:blipFill>
        <p:spPr>
          <a:xfrm>
            <a:off x="2852730" y="1600200"/>
            <a:ext cx="6638612" cy="4389004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4"/>
          <p:cNvSpPr/>
          <p:nvPr/>
        </p:nvSpPr>
        <p:spPr>
          <a:xfrm>
            <a:off x="822938" y="6080760"/>
            <a:ext cx="1042388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As Redes Neurais tiveram os maiores valores de R², seguidas pelos modelos Random Forest.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cefet_logo.png" id="289" name="Google Shape;28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31" y="209398"/>
            <a:ext cx="1234407" cy="39501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25"/>
          <p:cNvSpPr/>
          <p:nvPr/>
        </p:nvSpPr>
        <p:spPr>
          <a:xfrm>
            <a:off x="1737314" y="219456"/>
            <a:ext cx="8137943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A70"/>
              </a:buClr>
              <a:buSzPts val="1300"/>
              <a:buFont typeface="Play"/>
              <a:buNone/>
            </a:pPr>
            <a:r>
              <a:rPr b="1" i="0" lang="en-US" sz="1300" u="none" cap="none" strike="noStrike">
                <a:solidFill>
                  <a:srgbClr val="003A70"/>
                </a:solidFill>
                <a:latin typeface="Play"/>
                <a:ea typeface="Play"/>
                <a:cs typeface="Play"/>
                <a:sym typeface="Play"/>
              </a:rPr>
              <a:t>Investigação dos modelos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25"/>
          <p:cNvSpPr/>
          <p:nvPr/>
        </p:nvSpPr>
        <p:spPr>
          <a:xfrm>
            <a:off x="11063945" y="228600"/>
            <a:ext cx="731501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11/1</a:t>
            </a:r>
            <a:r>
              <a:rPr lang="en-US" sz="1000">
                <a:solidFill>
                  <a:srgbClr val="555555"/>
                </a:solidFill>
              </a:rPr>
              <a:t>6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2" name="Google Shape;292;p25"/>
          <p:cNvCxnSpPr/>
          <p:nvPr/>
        </p:nvCxnSpPr>
        <p:spPr>
          <a:xfrm>
            <a:off x="320031" y="713232"/>
            <a:ext cx="11475414" cy="0"/>
          </a:xfrm>
          <a:prstGeom prst="straightConnector1">
            <a:avLst/>
          </a:prstGeom>
          <a:noFill/>
          <a:ln cap="flat" cmpd="sng" w="12700">
            <a:solidFill>
              <a:srgbClr val="003A7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3" name="Google Shape;293;p25"/>
          <p:cNvSpPr/>
          <p:nvPr/>
        </p:nvSpPr>
        <p:spPr>
          <a:xfrm>
            <a:off x="685782" y="960120"/>
            <a:ext cx="1097250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000"/>
              <a:buFont typeface="Play"/>
              <a:buNone/>
            </a:pPr>
            <a:r>
              <a:rPr b="1" i="0" lang="en-US" sz="3000" u="none" cap="none" strike="noStrike">
                <a:solidFill>
                  <a:srgbClr val="111111"/>
                </a:solidFill>
                <a:latin typeface="Play"/>
                <a:ea typeface="Play"/>
                <a:cs typeface="Play"/>
                <a:sym typeface="Play"/>
              </a:rPr>
              <a:t>Comparação do RMSE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4" name="Google Shape;294;p25" title="comparacao_rmse_modelos.png"/>
          <p:cNvPicPr preferRelativeResize="0"/>
          <p:nvPr/>
        </p:nvPicPr>
        <p:blipFill rotWithShape="1">
          <a:blip r:embed="rId4">
            <a:alphaModFix/>
          </a:blip>
          <a:srcRect b="0" l="6232" r="6241" t="0"/>
          <a:stretch/>
        </p:blipFill>
        <p:spPr>
          <a:xfrm>
            <a:off x="2855180" y="1600200"/>
            <a:ext cx="6633713" cy="4389004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25"/>
          <p:cNvSpPr/>
          <p:nvPr/>
        </p:nvSpPr>
        <p:spPr>
          <a:xfrm>
            <a:off x="822938" y="6080760"/>
            <a:ext cx="1042388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Quanto menor o RMSE, melhor. A Rede Neural (64, 32) apresentou o menor erro.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cefet_logo.png" id="301" name="Google Shape;301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31" y="209398"/>
            <a:ext cx="1234407" cy="395010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26"/>
          <p:cNvSpPr/>
          <p:nvPr/>
        </p:nvSpPr>
        <p:spPr>
          <a:xfrm>
            <a:off x="1737314" y="219456"/>
            <a:ext cx="8137943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A70"/>
              </a:buClr>
              <a:buSzPts val="1300"/>
              <a:buFont typeface="Play"/>
              <a:buNone/>
            </a:pPr>
            <a:r>
              <a:rPr b="1" i="0" lang="en-US" sz="1300" u="none" cap="none" strike="noStrike">
                <a:solidFill>
                  <a:srgbClr val="003A70"/>
                </a:solidFill>
                <a:latin typeface="Play"/>
                <a:ea typeface="Play"/>
                <a:cs typeface="Play"/>
                <a:sym typeface="Play"/>
              </a:rPr>
              <a:t>Melhor modelo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26"/>
          <p:cNvSpPr/>
          <p:nvPr/>
        </p:nvSpPr>
        <p:spPr>
          <a:xfrm>
            <a:off x="11063945" y="228600"/>
            <a:ext cx="731501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12/1</a:t>
            </a:r>
            <a:r>
              <a:rPr lang="en-US" sz="1000">
                <a:solidFill>
                  <a:srgbClr val="555555"/>
                </a:solidFill>
              </a:rPr>
              <a:t>6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4" name="Google Shape;304;p26"/>
          <p:cNvCxnSpPr/>
          <p:nvPr/>
        </p:nvCxnSpPr>
        <p:spPr>
          <a:xfrm>
            <a:off x="320031" y="713232"/>
            <a:ext cx="11475414" cy="0"/>
          </a:xfrm>
          <a:prstGeom prst="straightConnector1">
            <a:avLst/>
          </a:prstGeom>
          <a:noFill/>
          <a:ln cap="flat" cmpd="sng" w="12700">
            <a:solidFill>
              <a:srgbClr val="003A7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5" name="Google Shape;305;p26"/>
          <p:cNvSpPr/>
          <p:nvPr/>
        </p:nvSpPr>
        <p:spPr>
          <a:xfrm>
            <a:off x="685782" y="960120"/>
            <a:ext cx="1097250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000"/>
              <a:buFont typeface="Play"/>
              <a:buNone/>
            </a:pPr>
            <a:r>
              <a:rPr b="1" i="0" lang="en-US" sz="3000" u="none" cap="none" strike="noStrike">
                <a:solidFill>
                  <a:srgbClr val="111111"/>
                </a:solidFill>
                <a:latin typeface="Play"/>
                <a:ea typeface="Play"/>
                <a:cs typeface="Play"/>
                <a:sym typeface="Play"/>
              </a:rPr>
              <a:t>Rede Neural MLP (64, 32)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26"/>
          <p:cNvSpPr/>
          <p:nvPr/>
        </p:nvSpPr>
        <p:spPr>
          <a:xfrm>
            <a:off x="1005813" y="1920240"/>
            <a:ext cx="201162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3A70"/>
              </a:buClr>
              <a:buSzPts val="3000"/>
              <a:buFont typeface="Play"/>
              <a:buNone/>
            </a:pPr>
            <a:r>
              <a:rPr b="1" i="0" lang="en-US" sz="3000" u="none" cap="none" strike="noStrike">
                <a:solidFill>
                  <a:srgbClr val="003A70"/>
                </a:solidFill>
                <a:latin typeface="Play"/>
                <a:ea typeface="Play"/>
                <a:cs typeface="Play"/>
                <a:sym typeface="Play"/>
              </a:rPr>
              <a:t>0,388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26"/>
          <p:cNvSpPr/>
          <p:nvPr/>
        </p:nvSpPr>
        <p:spPr>
          <a:xfrm>
            <a:off x="1005813" y="2487168"/>
            <a:ext cx="201162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Score (R²)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26"/>
          <p:cNvSpPr/>
          <p:nvPr/>
        </p:nvSpPr>
        <p:spPr>
          <a:xfrm>
            <a:off x="3657503" y="1920240"/>
            <a:ext cx="201162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64E2E"/>
              </a:buClr>
              <a:buSzPts val="3000"/>
              <a:buFont typeface="Play"/>
              <a:buNone/>
            </a:pPr>
            <a:r>
              <a:rPr b="1" i="0" lang="en-US" sz="3000" u="none" cap="none" strike="noStrike">
                <a:solidFill>
                  <a:srgbClr val="A64E2E"/>
                </a:solidFill>
                <a:latin typeface="Play"/>
                <a:ea typeface="Play"/>
                <a:cs typeface="Play"/>
                <a:sym typeface="Play"/>
              </a:rPr>
              <a:t>1,022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26"/>
          <p:cNvSpPr/>
          <p:nvPr/>
        </p:nvSpPr>
        <p:spPr>
          <a:xfrm>
            <a:off x="3657503" y="2487168"/>
            <a:ext cx="201162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RMSE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26"/>
          <p:cNvSpPr/>
          <p:nvPr/>
        </p:nvSpPr>
        <p:spPr>
          <a:xfrm>
            <a:off x="6400629" y="1783080"/>
            <a:ext cx="5029066" cy="310896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Arquitetura: duas camadas ocultas com 64 e 32 neurônios.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Função de ativação ReLU e otimizador Adam.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Early stopping para interromper o treinamento quando não houver melhora.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Melhor desempenho geral entre as configurações testadas.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26"/>
          <p:cNvSpPr/>
          <p:nvPr/>
        </p:nvSpPr>
        <p:spPr>
          <a:xfrm>
            <a:off x="868657" y="5394960"/>
            <a:ext cx="10515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Interpretação: o modelo capturou melhor relações não lineares entre atributos meteorológicos e precipitação.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cefet_logo.png" id="317" name="Google Shape;317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31" y="209398"/>
            <a:ext cx="1234407" cy="395010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27"/>
          <p:cNvSpPr/>
          <p:nvPr/>
        </p:nvSpPr>
        <p:spPr>
          <a:xfrm>
            <a:off x="1737314" y="219456"/>
            <a:ext cx="8137943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A70"/>
              </a:buClr>
              <a:buSzPts val="1300"/>
              <a:buFont typeface="Play"/>
              <a:buNone/>
            </a:pPr>
            <a:r>
              <a:rPr b="1" i="0" lang="en-US" sz="1300" u="none" cap="none" strike="noStrike">
                <a:solidFill>
                  <a:srgbClr val="003A70"/>
                </a:solidFill>
                <a:latin typeface="Play"/>
                <a:ea typeface="Play"/>
                <a:cs typeface="Play"/>
                <a:sym typeface="Play"/>
              </a:rPr>
              <a:t>Interpretação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27"/>
          <p:cNvSpPr/>
          <p:nvPr/>
        </p:nvSpPr>
        <p:spPr>
          <a:xfrm>
            <a:off x="11063945" y="228600"/>
            <a:ext cx="731501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13/1</a:t>
            </a:r>
            <a:r>
              <a:rPr lang="en-US" sz="1000">
                <a:solidFill>
                  <a:srgbClr val="555555"/>
                </a:solidFill>
              </a:rPr>
              <a:t>6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0" name="Google Shape;320;p27"/>
          <p:cNvCxnSpPr/>
          <p:nvPr/>
        </p:nvCxnSpPr>
        <p:spPr>
          <a:xfrm>
            <a:off x="320031" y="713232"/>
            <a:ext cx="11475414" cy="0"/>
          </a:xfrm>
          <a:prstGeom prst="straightConnector1">
            <a:avLst/>
          </a:prstGeom>
          <a:noFill/>
          <a:ln cap="flat" cmpd="sng" w="12700">
            <a:solidFill>
              <a:srgbClr val="003A7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1" name="Google Shape;321;p27"/>
          <p:cNvSpPr/>
          <p:nvPr/>
        </p:nvSpPr>
        <p:spPr>
          <a:xfrm>
            <a:off x="685782" y="960120"/>
            <a:ext cx="1097250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000"/>
              <a:buFont typeface="Play"/>
              <a:buNone/>
            </a:pPr>
            <a:r>
              <a:rPr b="1" i="0" lang="en-US" sz="3000" u="none" cap="none" strike="noStrike">
                <a:solidFill>
                  <a:srgbClr val="111111"/>
                </a:solidFill>
                <a:latin typeface="Play"/>
                <a:ea typeface="Play"/>
                <a:cs typeface="Play"/>
                <a:sym typeface="Play"/>
              </a:rPr>
              <a:t>Variáveis mais importantes no Random Forest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2" name="Google Shape;322;p27" title="random_forest_top15_importancias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3065" y="1508760"/>
            <a:ext cx="6566062" cy="4571877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27"/>
          <p:cNvSpPr/>
          <p:nvPr/>
        </p:nvSpPr>
        <p:spPr>
          <a:xfrm>
            <a:off x="7452161" y="1828800"/>
            <a:ext cx="411469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chuva_lag_1h foi a variável mais importante.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Atributos de chuva recente aparecem entre os principais preditores.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Temperatura, pressão, umidade, radiação e vento também contribuíram.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Random Forest não foi o melhor modelo, mas ajudou na interpretação.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cefet_logo.png" id="329" name="Google Shape;329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31" y="209398"/>
            <a:ext cx="1234407" cy="395010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28"/>
          <p:cNvSpPr/>
          <p:nvPr/>
        </p:nvSpPr>
        <p:spPr>
          <a:xfrm>
            <a:off x="1737314" y="219456"/>
            <a:ext cx="8137943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A70"/>
              </a:buClr>
              <a:buSzPts val="1300"/>
              <a:buFont typeface="Play"/>
              <a:buNone/>
            </a:pPr>
            <a:r>
              <a:rPr b="1" i="0" lang="en-US" sz="1300" u="none" cap="none" strike="noStrike">
                <a:solidFill>
                  <a:srgbClr val="003A70"/>
                </a:solidFill>
                <a:latin typeface="Play"/>
                <a:ea typeface="Play"/>
                <a:cs typeface="Play"/>
                <a:sym typeface="Play"/>
              </a:rPr>
              <a:t>Análise do melhor modelo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28"/>
          <p:cNvSpPr/>
          <p:nvPr/>
        </p:nvSpPr>
        <p:spPr>
          <a:xfrm>
            <a:off x="11063945" y="228600"/>
            <a:ext cx="731501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14/1</a:t>
            </a:r>
            <a:r>
              <a:rPr lang="en-US" sz="1000">
                <a:solidFill>
                  <a:srgbClr val="555555"/>
                </a:solidFill>
              </a:rPr>
              <a:t>6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2" name="Google Shape;332;p28"/>
          <p:cNvCxnSpPr/>
          <p:nvPr/>
        </p:nvCxnSpPr>
        <p:spPr>
          <a:xfrm>
            <a:off x="320031" y="713232"/>
            <a:ext cx="11475414" cy="0"/>
          </a:xfrm>
          <a:prstGeom prst="straightConnector1">
            <a:avLst/>
          </a:prstGeom>
          <a:noFill/>
          <a:ln cap="flat" cmpd="sng" w="12700">
            <a:solidFill>
              <a:srgbClr val="003A7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3" name="Google Shape;333;p28"/>
          <p:cNvSpPr/>
          <p:nvPr/>
        </p:nvSpPr>
        <p:spPr>
          <a:xfrm>
            <a:off x="685782" y="960120"/>
            <a:ext cx="1097250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000"/>
              <a:buFont typeface="Play"/>
              <a:buNone/>
            </a:pPr>
            <a:r>
              <a:rPr b="1" i="0" lang="en-US" sz="3000" u="none" cap="none" strike="noStrike">
                <a:solidFill>
                  <a:srgbClr val="111111"/>
                </a:solidFill>
                <a:latin typeface="Play"/>
                <a:ea typeface="Play"/>
                <a:cs typeface="Play"/>
                <a:sym typeface="Play"/>
              </a:rPr>
              <a:t>Rede Neural: comportamento das previsões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4" name="Google Shape;334;p28" title="rede_neural_observado_vs_previst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65829" y="1508760"/>
            <a:ext cx="4251848" cy="4251848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28" title="rede_neural_residuos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09192" y="2027843"/>
            <a:ext cx="5394816" cy="3213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28"/>
          <p:cNvSpPr/>
          <p:nvPr/>
        </p:nvSpPr>
        <p:spPr>
          <a:xfrm>
            <a:off x="685782" y="5897880"/>
            <a:ext cx="1097250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A concentração de pontos próximos de zero indica muitos registros com pouca ou nenhuma chuva. Eventos intensos apresentam maior dispersão.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cefet_logo.png" id="342" name="Google Shape;342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31" y="209398"/>
            <a:ext cx="1234408" cy="39501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29"/>
          <p:cNvSpPr/>
          <p:nvPr/>
        </p:nvSpPr>
        <p:spPr>
          <a:xfrm>
            <a:off x="1737314" y="219456"/>
            <a:ext cx="8137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A70"/>
              </a:buClr>
              <a:buSzPts val="1300"/>
              <a:buFont typeface="Play"/>
              <a:buNone/>
            </a:pPr>
            <a:r>
              <a:rPr b="1" i="0" lang="en-US" sz="1300" u="none" cap="none" strike="noStrike">
                <a:solidFill>
                  <a:srgbClr val="003A70"/>
                </a:solidFill>
                <a:latin typeface="Play"/>
                <a:ea typeface="Play"/>
                <a:cs typeface="Play"/>
                <a:sym typeface="Play"/>
              </a:rPr>
              <a:t>Análise do melhor modelo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29"/>
          <p:cNvSpPr/>
          <p:nvPr/>
        </p:nvSpPr>
        <p:spPr>
          <a:xfrm>
            <a:off x="11063945" y="228600"/>
            <a:ext cx="731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000">
                <a:solidFill>
                  <a:srgbClr val="555555"/>
                </a:solidFill>
              </a:rPr>
              <a:t>5</a:t>
            </a:r>
            <a:r>
              <a:rPr b="0" i="0" lang="en-US" sz="10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/1</a:t>
            </a:r>
            <a:r>
              <a:rPr lang="en-US" sz="1000">
                <a:solidFill>
                  <a:srgbClr val="555555"/>
                </a:solidFill>
              </a:rPr>
              <a:t>6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5" name="Google Shape;345;p29"/>
          <p:cNvCxnSpPr/>
          <p:nvPr/>
        </p:nvCxnSpPr>
        <p:spPr>
          <a:xfrm>
            <a:off x="320031" y="713232"/>
            <a:ext cx="11475300" cy="0"/>
          </a:xfrm>
          <a:prstGeom prst="straightConnector1">
            <a:avLst/>
          </a:prstGeom>
          <a:noFill/>
          <a:ln cap="flat" cmpd="sng" w="12700">
            <a:solidFill>
              <a:srgbClr val="003A7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6" name="Google Shape;346;p29"/>
          <p:cNvSpPr/>
          <p:nvPr/>
        </p:nvSpPr>
        <p:spPr>
          <a:xfrm>
            <a:off x="685782" y="960120"/>
            <a:ext cx="109725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000"/>
              <a:buFont typeface="Play"/>
              <a:buNone/>
            </a:pPr>
            <a:r>
              <a:rPr b="1" lang="en-US" sz="3000">
                <a:solidFill>
                  <a:srgbClr val="111111"/>
                </a:solidFill>
                <a:latin typeface="Play"/>
                <a:ea typeface="Play"/>
                <a:cs typeface="Play"/>
                <a:sym typeface="Play"/>
              </a:rPr>
              <a:t>Validação Cruzada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7" name="Google Shape;347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9925" y="1818650"/>
            <a:ext cx="3981450" cy="411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28900" y="1818650"/>
            <a:ext cx="3562350" cy="411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278775" y="1818650"/>
            <a:ext cx="3476625" cy="411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cefet_logo.png" id="355" name="Google Shape;355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31" y="209398"/>
            <a:ext cx="1234407" cy="395010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30"/>
          <p:cNvSpPr/>
          <p:nvPr/>
        </p:nvSpPr>
        <p:spPr>
          <a:xfrm>
            <a:off x="1737314" y="219456"/>
            <a:ext cx="8137943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A70"/>
              </a:buClr>
              <a:buSzPts val="1300"/>
              <a:buFont typeface="Play"/>
              <a:buNone/>
            </a:pPr>
            <a:r>
              <a:rPr b="1" i="0" lang="en-US" sz="1300" u="none" cap="none" strike="noStrike">
                <a:solidFill>
                  <a:srgbClr val="003A70"/>
                </a:solidFill>
                <a:latin typeface="Play"/>
                <a:ea typeface="Play"/>
                <a:cs typeface="Play"/>
                <a:sym typeface="Play"/>
              </a:rPr>
              <a:t>Validação cruzada e conclusão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30"/>
          <p:cNvSpPr/>
          <p:nvPr/>
        </p:nvSpPr>
        <p:spPr>
          <a:xfrm>
            <a:off x="11063945" y="228600"/>
            <a:ext cx="731501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000">
                <a:solidFill>
                  <a:srgbClr val="555555"/>
                </a:solidFill>
              </a:rPr>
              <a:t>6</a:t>
            </a:r>
            <a:r>
              <a:rPr b="0" i="0" lang="en-US" sz="10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/1</a:t>
            </a:r>
            <a:r>
              <a:rPr lang="en-US" sz="1000">
                <a:solidFill>
                  <a:srgbClr val="555555"/>
                </a:solidFill>
              </a:rPr>
              <a:t>6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8" name="Google Shape;358;p30"/>
          <p:cNvCxnSpPr/>
          <p:nvPr/>
        </p:nvCxnSpPr>
        <p:spPr>
          <a:xfrm>
            <a:off x="320031" y="713232"/>
            <a:ext cx="11475414" cy="0"/>
          </a:xfrm>
          <a:prstGeom prst="straightConnector1">
            <a:avLst/>
          </a:prstGeom>
          <a:noFill/>
          <a:ln cap="flat" cmpd="sng" w="12700">
            <a:solidFill>
              <a:srgbClr val="003A7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9" name="Google Shape;359;p30"/>
          <p:cNvSpPr/>
          <p:nvPr/>
        </p:nvSpPr>
        <p:spPr>
          <a:xfrm>
            <a:off x="685782" y="960120"/>
            <a:ext cx="1097250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000"/>
              <a:buFont typeface="Play"/>
              <a:buNone/>
            </a:pPr>
            <a:r>
              <a:rPr b="1" i="0" lang="en-US" sz="3000" u="none" cap="none" strike="noStrike">
                <a:solidFill>
                  <a:srgbClr val="111111"/>
                </a:solidFill>
                <a:latin typeface="Play"/>
                <a:ea typeface="Play"/>
                <a:cs typeface="Play"/>
                <a:sym typeface="Play"/>
              </a:rPr>
              <a:t>Fechamento do trabalho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30"/>
          <p:cNvSpPr/>
          <p:nvPr/>
        </p:nvSpPr>
        <p:spPr>
          <a:xfrm>
            <a:off x="822938" y="1783080"/>
            <a:ext cx="10698195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Char char="●"/>
            </a:pPr>
            <a:r>
              <a:rPr lang="en-US" sz="1800">
                <a:solidFill>
                  <a:srgbClr val="222222"/>
                </a:solidFill>
              </a:rPr>
              <a:t>Objetivo alcançado: base preparada, variáveis categorizadas e modelos de regressão comparados.</a:t>
            </a:r>
            <a:endParaRPr sz="1800">
              <a:solidFill>
                <a:srgbClr val="22222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Char char="●"/>
            </a:pPr>
            <a:r>
              <a:rPr lang="en-US" sz="1800">
                <a:solidFill>
                  <a:srgbClr val="222222"/>
                </a:solidFill>
              </a:rPr>
              <a:t>Teste inicial: Redes Neurais (64, 32) apresentou maior R² e menor RMSE.</a:t>
            </a:r>
            <a:endParaRPr sz="1800">
              <a:solidFill>
                <a:srgbClr val="22222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Char char="●"/>
            </a:pPr>
            <a:r>
              <a:rPr lang="en-US" sz="1800">
                <a:solidFill>
                  <a:srgbClr val="222222"/>
                </a:solidFill>
              </a:rPr>
              <a:t>Validação cruzada temporal: Random Forest teve maior R² médio; Redes Neurais tiveram menores erros médios.</a:t>
            </a:r>
            <a:endParaRPr sz="1800">
              <a:solidFill>
                <a:srgbClr val="22222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Char char="●"/>
            </a:pPr>
            <a:r>
              <a:rPr lang="en-US" sz="1800">
                <a:solidFill>
                  <a:srgbClr val="222222"/>
                </a:solidFill>
              </a:rPr>
              <a:t>Interpretação: chuva_lag_1h foi a variável mais importante no Random Forest.</a:t>
            </a:r>
            <a:endParaRPr sz="1800">
              <a:solidFill>
                <a:srgbClr val="22222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Char char="●"/>
            </a:pPr>
            <a:r>
              <a:rPr lang="en-US" sz="1800">
                <a:solidFill>
                  <a:srgbClr val="222222"/>
                </a:solidFill>
              </a:rPr>
              <a:t>Limitação principal: eventos de chuva intensa apresentaram maior dispersão nas previsões.</a:t>
            </a:r>
            <a:endParaRPr sz="1800">
              <a:solidFill>
                <a:srgbClr val="22222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